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60000"/>
      </a:lnSpc>
      <a:spcBef>
        <a:spcPts val="3500"/>
      </a:spcBef>
      <a:spcAft>
        <a:spcPts val="0"/>
      </a:spcAft>
      <a:buClrTx/>
      <a:buSzTx/>
      <a:buFontTx/>
      <a:buNone/>
      <a:tabLst/>
      <a:defRPr b="0" baseline="0" cap="none" i="0" spc="0" strike="noStrike" sz="3600" u="none" kumimoji="0" normalizeH="0">
        <a:ln>
          <a:noFill/>
        </a:ln>
        <a:solidFill>
          <a:srgbClr val="D5D5D5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7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7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82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9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10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Slide Subtitle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10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Agenda Subtitle</a:t>
            </a:r>
          </a:p>
        </p:txBody>
      </p:sp>
      <p:sp>
        <p:nvSpPr>
          <p:cNvPr id="11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solidFill>
                  <a:srgbClr val="000000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solidFill>
                  <a:srgbClr val="000000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solidFill>
                  <a:srgbClr val="000000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solidFill>
                  <a:srgbClr val="000000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>
                <a:solidFill>
                  <a:srgbClr val="000000"/>
                </a:solidFill>
              </a:defRPr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0000"/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0000"/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0000"/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0000"/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>
                <a:solidFill>
                  <a:srgbClr val="000000"/>
                </a:solidFill>
              </a:defRPr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>
                <a:solidFill>
                  <a:srgbClr val="000000"/>
                </a:solidFill>
              </a:defRPr>
            </a:lvl1pPr>
          </a:lstStyle>
          <a:p>
            <a:pPr/>
            <a:r>
              <a:t>Fact information</a:t>
            </a:r>
          </a:p>
        </p:txBody>
      </p:sp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>
                <a:solidFill>
                  <a:srgbClr val="000000"/>
                </a:solidFill>
              </a:defRPr>
            </a:lvl1pPr>
          </a:lstStyle>
          <a:p>
            <a:pPr/>
            <a:r>
              <a:t>Attribution</a:t>
            </a:r>
          </a:p>
        </p:txBody>
      </p:sp>
      <p:sp>
        <p:nvSpPr>
          <p:cNvPr id="13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lnSpc>
                <a:spcPct val="90000"/>
              </a:lnSpc>
              <a:spcBef>
                <a:spcPts val="0"/>
              </a:spcBef>
              <a:buSzTx/>
              <a:buNone/>
              <a:defRPr spc="-170" sz="8500">
                <a:solidFill>
                  <a:srgbClr val="000000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Bowl with salmon cakes, salad and houmo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Bowl of pappardelle pasta with parsley butter, roasted hazelnuts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4572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1pPr>
      <a:lvl2pPr marL="10668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2pPr>
      <a:lvl3pPr marL="16764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3pPr>
      <a:lvl4pPr marL="22860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4pPr>
      <a:lvl5pPr marL="28956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5pPr>
      <a:lvl6pPr marL="35052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6pPr>
      <a:lvl7pPr marL="41148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7pPr>
      <a:lvl8pPr marL="47244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8pPr>
      <a:lvl9pPr marL="5334000" marR="0" indent="-457200" algn="l" defTabSz="2438338" rtl="0" latinLnBrk="0">
        <a:lnSpc>
          <a:spcPct val="60000"/>
        </a:lnSpc>
        <a:spcBef>
          <a:spcPts val="3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3600" u="none">
          <a:solidFill>
            <a:srgbClr val="D5D5D5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tif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18.02.2026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18.02.2026</a:t>
            </a:r>
          </a:p>
        </p:txBody>
      </p:sp>
      <p:sp>
        <p:nvSpPr>
          <p:cNvPr id="172" name="Сертификация Commvault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Сертификация Commvault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Экзамен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Экзамены</a:t>
            </a:r>
          </a:p>
        </p:txBody>
      </p:sp>
      <p:sp>
        <p:nvSpPr>
          <p:cNvPr id="175" name="Commvault Professional…"/>
          <p:cNvSpPr txBox="1"/>
          <p:nvPr>
            <p:ph type="body" idx="1"/>
          </p:nvPr>
        </p:nvSpPr>
        <p:spPr>
          <a:xfrm>
            <a:off x="1206500" y="2546992"/>
            <a:ext cx="21971000" cy="995752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Commvault Professional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Certified Engineer - Command Center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Certified Engineer - CommCell Console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Advanced Configuration - CommCell Console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Certified Expert - CommCell Console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2 попытки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rPr baseline="66666">
                <a:solidFill>
                  <a:schemeClr val="accent5">
                    <a:lumOff val="-29866"/>
                  </a:schemeClr>
                </a:solidFill>
              </a:rPr>
              <a:t>You will have two attempts at passing the exam, please note that there is a 24-hour waiting period between the two attempts.</a:t>
            </a:r>
            <a:r>
              <a:t> 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Сайт: </a:t>
            </a:r>
            <a:r>
              <a:rPr u="sng"/>
              <a:t>https://www.readiverse.com/academy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Commvault Professional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Commvault Professional </a:t>
            </a:r>
          </a:p>
        </p:txBody>
      </p:sp>
      <p:sp>
        <p:nvSpPr>
          <p:cNvPr id="178" name="Commvault Professional Self-Paced Course for Partners &amp; Employees (eLearning Videos &amp; Exam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553084">
              <a:defRPr sz="3685">
                <a:solidFill>
                  <a:srgbClr val="FFFFFF"/>
                </a:solidFill>
              </a:defRPr>
            </a:lvl1pPr>
          </a:lstStyle>
          <a:p>
            <a:pPr/>
            <a:r>
              <a:t>Commvault Professional Self-Paced Course for Partners &amp; Employees (eLearning Videos &amp; Exam)</a:t>
            </a:r>
          </a:p>
        </p:txBody>
      </p:sp>
      <p:sp>
        <p:nvSpPr>
          <p:cNvPr id="179" name="Видео (2-3 часа)…"/>
          <p:cNvSpPr txBox="1"/>
          <p:nvPr>
            <p:ph type="body" idx="1"/>
          </p:nvPr>
        </p:nvSpPr>
        <p:spPr>
          <a:xfrm>
            <a:off x="1206500" y="4248504"/>
            <a:ext cx="21971000" cy="8797543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Видео (2-3 часа)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Экзамен (1 - 1.5 часа)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Основа для всех последующих экзаменов</a:t>
            </a:r>
          </a:p>
        </p:txBody>
      </p:sp>
      <p:pic>
        <p:nvPicPr>
          <p:cNvPr id="180" name="ex1.png" descr="ex1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577128" y="7259746"/>
            <a:ext cx="13390826" cy="575176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Примеры вопрос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Примеры вопросов</a:t>
            </a:r>
          </a:p>
        </p:txBody>
      </p:sp>
      <p:sp>
        <p:nvSpPr>
          <p:cNvPr id="183" name="A disk storage target mount path can be defined by which of the following?…"/>
          <p:cNvSpPr txBox="1"/>
          <p:nvPr>
            <p:ph type="body" idx="1"/>
          </p:nvPr>
        </p:nvSpPr>
        <p:spPr>
          <a:xfrm>
            <a:off x="1206500" y="2727827"/>
            <a:ext cx="21971000" cy="9776689"/>
          </a:xfrm>
          <a:prstGeom prst="rect">
            <a:avLst/>
          </a:prstGeom>
        </p:spPr>
        <p:txBody>
          <a:bodyPr/>
          <a:lstStyle/>
          <a:p>
            <a:pPr marL="533400" indent="-533400">
              <a:defRPr sz="4200">
                <a:solidFill>
                  <a:srgbClr val="FFFFFF"/>
                </a:solidFill>
              </a:defRPr>
            </a:pPr>
            <a:r>
              <a:t>A disk storage target mount path can be defined by which of the following?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Local path (for local disks or SAN attached disks)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UNC path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Mapped network drive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All of the above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</a:p>
          <a:p>
            <a:pPr>
              <a:defRPr sz="4200">
                <a:solidFill>
                  <a:srgbClr val="FFFFFF"/>
                </a:solidFill>
              </a:defRPr>
            </a:pPr>
            <a:r>
              <a:t>Which of the following statements regarding </a:t>
            </a:r>
            <a:r>
              <a:rPr sz="4700"/>
              <a:t>operational</a:t>
            </a:r>
            <a:r>
              <a:t> controls is true?</a:t>
            </a:r>
          </a:p>
          <a:p>
            <a:pPr lvl="1" marL="0" indent="457200">
              <a:buSzTx/>
              <a:buNone/>
            </a:pPr>
            <a:r>
              <a:t>- Enabling data protection at a child level will always override CommCell level settings.</a:t>
            </a:r>
          </a:p>
          <a:p>
            <a:pPr lvl="1" marL="0" indent="457200">
              <a:spcBef>
                <a:spcPts val="3600"/>
              </a:spcBef>
              <a:buSzTx/>
              <a:buNone/>
            </a:pPr>
            <a:r>
              <a:t>- </a:t>
            </a:r>
            <a:r>
              <a:rPr sz="3500"/>
              <a:t>Enabling data protection at the CommCell level will automatically enable data protection at all child levels.</a:t>
            </a:r>
            <a:endParaRPr sz="3500"/>
          </a:p>
          <a:p>
            <a:pPr lvl="1" marL="0" indent="457200">
              <a:spcBef>
                <a:spcPts val="3600"/>
              </a:spcBef>
              <a:buSzTx/>
              <a:buNone/>
            </a:pPr>
            <a:r>
              <a:t>- Operation controls can only be configured at the subclient level.</a:t>
            </a:r>
          </a:p>
          <a:p>
            <a:pPr lvl="1" marL="0" indent="457200">
              <a:buSzTx/>
              <a:buNone/>
            </a:pPr>
            <a:r>
              <a:t>- Disabling data protection at the CommCell level will disable data protection at all child levels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Advanced Configuration - CommCell Conso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2340805">
              <a:defRPr spc="-163" sz="8160">
                <a:solidFill>
                  <a:srgbClr val="FFFFFF"/>
                </a:solidFill>
              </a:defRPr>
            </a:lvl1pPr>
          </a:lstStyle>
          <a:p>
            <a:pPr/>
            <a:r>
              <a:t>Advanced Configuration - CommCell Console</a:t>
            </a:r>
          </a:p>
        </p:txBody>
      </p:sp>
      <p:sp>
        <p:nvSpPr>
          <p:cNvPr id="186" name="Advanced Configuration - CommCell Console Self-Paced Course for Partners &amp; Employees (eLearning Videos &amp; Exam)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defTabSz="454025">
              <a:defRPr sz="3025">
                <a:solidFill>
                  <a:srgbClr val="FFFFFF"/>
                </a:solidFill>
              </a:defRPr>
            </a:lvl1pPr>
          </a:lstStyle>
          <a:p>
            <a:pPr/>
            <a:r>
              <a:t>Advanced Configuration - CommCell Console Self-Paced Course for Partners &amp; Employees (eLearning Videos &amp; Exam)</a:t>
            </a:r>
          </a:p>
        </p:txBody>
      </p:sp>
      <p:sp>
        <p:nvSpPr>
          <p:cNvPr id="187" name="Видео (5 часов)…"/>
          <p:cNvSpPr txBox="1"/>
          <p:nvPr>
            <p:ph type="body" idx="1"/>
          </p:nvPr>
        </p:nvSpPr>
        <p:spPr>
          <a:xfrm>
            <a:off x="1206500" y="4248504"/>
            <a:ext cx="21971000" cy="894948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Видео (5 часов)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Экзамен (1 - 1.5 часа)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 baseline="61111">
                <a:solidFill>
                  <a:schemeClr val="accent5">
                    <a:lumOff val="-29866"/>
                  </a:schemeClr>
                </a:solidFill>
              </a:defRPr>
            </a:pPr>
            <a:r>
              <a:t>It is highly recommended that you pass the Professional Advanced exam before registering for this exam. </a:t>
            </a:r>
          </a:p>
        </p:txBody>
      </p:sp>
      <p:pic>
        <p:nvPicPr>
          <p:cNvPr id="188" name="exam.png" descr="ex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24527" y="7581365"/>
            <a:ext cx="12108090" cy="52666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Примеры вопрос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Примеры вопросов</a:t>
            </a:r>
          </a:p>
        </p:txBody>
      </p:sp>
      <p:sp>
        <p:nvSpPr>
          <p:cNvPr id="191" name="Which option allows you to retain data longer than the defined retention, given that there is enough free space in the disk library?…"/>
          <p:cNvSpPr txBox="1"/>
          <p:nvPr>
            <p:ph type="body" idx="1"/>
          </p:nvPr>
        </p:nvSpPr>
        <p:spPr>
          <a:xfrm>
            <a:off x="1206500" y="2727827"/>
            <a:ext cx="21971000" cy="977668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50000"/>
              </a:lnSpc>
              <a:spcBef>
                <a:spcPts val="3100"/>
              </a:spcBef>
              <a:defRPr baseline="80555">
                <a:solidFill>
                  <a:srgbClr val="FFFFFF"/>
                </a:solidFill>
              </a:defRPr>
            </a:pPr>
            <a:r>
              <a:t>Which option allows you to retain data longer than the defined retention, given that there is enough free space in the disk library?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rPr>
                <a:solidFill>
                  <a:srgbClr val="FFFFFF"/>
                </a:solidFill>
              </a:rPr>
              <a:t>- </a:t>
            </a:r>
            <a:r>
              <a:t>Managed Disk Space Thresholds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Low Watermark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High Watermark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</a:pPr>
            <a:r>
              <a:t>- Extended Retention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</a:p>
          <a:p>
            <a:pPr>
              <a:defRPr baseline="61111">
                <a:solidFill>
                  <a:srgbClr val="FFFFFF"/>
                </a:solidFill>
              </a:defRPr>
            </a:pPr>
            <a:r>
              <a:t>You are troubleshooting an active job. You want to view the Events Viewer tab and the Job Controller tab side-by-side. What is the easiest way to do this?</a:t>
            </a:r>
          </a:p>
          <a:p>
            <a:pPr lvl="1" marL="0" indent="457200">
              <a:buSzTx/>
              <a:buNone/>
              <a:defRPr baseline="25000"/>
            </a:pPr>
            <a:r>
              <a:t>- Right-click one of the tabs and select split. On one of the split screens, select the second tab.</a:t>
            </a:r>
          </a:p>
          <a:p>
            <a:pPr lvl="1" marL="0" indent="457200">
              <a:buSzTx/>
              <a:buNone/>
              <a:defRPr baseline="25000"/>
            </a:pPr>
            <a:r>
              <a:t>- Right-click one of the two tabs and select Float. Move the floating window to the side or to a second screen.</a:t>
            </a:r>
          </a:p>
          <a:p>
            <a:pPr lvl="1" marL="0" indent="457200">
              <a:buSzTx/>
              <a:buNone/>
            </a:pPr>
            <a:r>
              <a:rPr baseline="25000"/>
              <a:t>- Open a second instance of the CommCell Console. For each instance, bring one of the two views in the foreground. Move one of the instances to the side or on another screen</a:t>
            </a:r>
            <a: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Certified Engine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Certified Engineer</a:t>
            </a:r>
          </a:p>
        </p:txBody>
      </p:sp>
      <p:sp>
        <p:nvSpPr>
          <p:cNvPr id="194" name="Command Center &amp; CommCell Console"/>
          <p:cNvSpPr txBox="1"/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Command Center &amp; CommCell Console</a:t>
            </a:r>
          </a:p>
        </p:txBody>
      </p:sp>
      <p:sp>
        <p:nvSpPr>
          <p:cNvPr id="195" name="2 экзамена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2 экзамена</a:t>
            </a:r>
          </a:p>
          <a:p>
            <a:pPr>
              <a:defRPr>
                <a:solidFill>
                  <a:srgbClr val="FFFFFF"/>
                </a:solidFill>
              </a:defRPr>
            </a:pPr>
            <a:r>
              <a:t>Вопросы повторяются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 baseline="61111">
                <a:solidFill>
                  <a:schemeClr val="accent5">
                    <a:lumOff val="-29866"/>
                  </a:schemeClr>
                </a:solidFill>
              </a:defRPr>
            </a:pPr>
            <a:r>
              <a:t>It is highly recommended that you pass the Professional Advanced exam before registering for this exam. </a:t>
            </a:r>
          </a:p>
          <a:p>
            <a:pPr>
              <a:defRPr baseline="61111">
                <a:solidFill>
                  <a:schemeClr val="accent5">
                    <a:lumOff val="-29866"/>
                  </a:schemeClr>
                </a:solidFill>
              </a:defRPr>
            </a:pPr>
            <a:r>
              <a:t>To achieve Commvault Engineer Certification you must first complete the Commvault Professional Certification. 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Примеры вопрос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Примеры вопросов</a:t>
            </a:r>
          </a:p>
        </p:txBody>
      </p:sp>
      <p:sp>
        <p:nvSpPr>
          <p:cNvPr id="198" name="What is the optimal block size for formatting a SAN or DAS disk library volume connected to Windows MediaAgent?…"/>
          <p:cNvSpPr txBox="1"/>
          <p:nvPr>
            <p:ph type="body" idx="1"/>
          </p:nvPr>
        </p:nvSpPr>
        <p:spPr>
          <a:xfrm>
            <a:off x="1206500" y="2727827"/>
            <a:ext cx="21971000" cy="9776689"/>
          </a:xfrm>
          <a:prstGeom prst="rect">
            <a:avLst/>
          </a:prstGeom>
        </p:spPr>
        <p:txBody>
          <a:bodyPr/>
          <a:lstStyle/>
          <a:p>
            <a:pPr marL="406400" indent="-406400">
              <a:lnSpc>
                <a:spcPct val="90000"/>
              </a:lnSpc>
              <a:spcBef>
                <a:spcPts val="3200"/>
              </a:spcBef>
              <a:defRPr sz="3200">
                <a:solidFill>
                  <a:srgbClr val="FFFFFF"/>
                </a:solidFill>
              </a:defRPr>
            </a:pPr>
            <a:r>
              <a:t>What is the optimal block size for formatting a SAN or DAS disk library volume connected to Windows MediaAgent?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- 4KB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- 64KB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- 128KB</a:t>
            </a:r>
          </a:p>
          <a:p>
            <a:pPr lvl="2" marL="0" indent="9144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- 512KB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</a:p>
          <a:p>
            <a:pPr marL="533400" indent="-533400">
              <a:defRPr baseline="71875" spc="32" sz="3200">
                <a:solidFill>
                  <a:srgbClr val="FFFFFF"/>
                </a:solidFill>
              </a:defRPr>
            </a:pPr>
            <a:r>
              <a:t>You have applied Commvault’s Deduplication feature in a new installation of Commvault software. What is the default order of processes when backing up database data using the appropriate Commvault agent?</a:t>
            </a:r>
          </a:p>
          <a:p>
            <a:pPr lvl="1" marL="0" indent="457200">
              <a:buSzTx/>
              <a:buNone/>
              <a:defRPr sz="3200"/>
            </a:pPr>
            <a:r>
              <a:t>- Compression, signature generation, but data cannot be encrypted</a:t>
            </a:r>
          </a:p>
          <a:p>
            <a:pPr lvl="1" marL="0" indent="457200">
              <a:buSzTx/>
              <a:buNone/>
              <a:defRPr sz="3200"/>
            </a:pPr>
            <a:r>
              <a:t>- Signature generation, compression, and optional encryption</a:t>
            </a:r>
          </a:p>
          <a:p>
            <a:pPr lvl="1" marL="0" indent="457200">
              <a:buSzTx/>
              <a:buNone/>
              <a:defRPr sz="3200"/>
            </a:pPr>
            <a:r>
              <a:t>- Compression, signature generation, and optional encryption</a:t>
            </a:r>
          </a:p>
          <a:p>
            <a:pPr lvl="1" marL="0" indent="457200">
              <a:buSzTx/>
              <a:buNone/>
              <a:defRPr sz="3200"/>
            </a:pPr>
            <a:r>
              <a:t>- Signature generation, compression, but data cannot be encrypted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lide bullet text"/>
          <p:cNvSpPr txBox="1"/>
          <p:nvPr>
            <p:ph type="body" idx="1"/>
          </p:nvPr>
        </p:nvSpPr>
        <p:spPr>
          <a:xfrm>
            <a:off x="1206500" y="2758518"/>
            <a:ext cx="21971000" cy="9745998"/>
          </a:xfrm>
          <a:prstGeom prst="rect">
            <a:avLst/>
          </a:prstGeom>
        </p:spPr>
        <p:txBody>
          <a:bodyPr/>
          <a:lstStyle/>
          <a:p>
            <a:pPr/>
          </a:p>
          <a:p>
            <a:pPr/>
          </a:p>
        </p:txBody>
      </p:sp>
      <p:pic>
        <p:nvPicPr>
          <p:cNvPr id="20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206500" y="2758518"/>
            <a:ext cx="18338554" cy="350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206500" y="2758518"/>
            <a:ext cx="18359036" cy="3699083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Подводные камн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Подводные камни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Certified Expert - CommCell Console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Certified Expert - CommCell Console</a:t>
            </a:r>
          </a:p>
        </p:txBody>
      </p:sp>
      <p:sp>
        <p:nvSpPr>
          <p:cNvPr id="206" name="3 часа…"/>
          <p:cNvSpPr txBox="1"/>
          <p:nvPr>
            <p:ph type="body" idx="1"/>
          </p:nvPr>
        </p:nvSpPr>
        <p:spPr>
          <a:xfrm>
            <a:off x="1206500" y="2546791"/>
            <a:ext cx="21971000" cy="9957725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3 часа</a:t>
            </a:r>
          </a:p>
          <a:p>
            <a:pPr>
              <a:defRPr>
                <a:solidFill>
                  <a:srgbClr val="FFFFFF"/>
                </a:solidFill>
              </a:defRPr>
            </a:pPr>
          </a:p>
          <a:p>
            <a:pPr>
              <a:defRPr baseline="61111">
                <a:solidFill>
                  <a:schemeClr val="accent5">
                    <a:lumOff val="-29866"/>
                  </a:schemeClr>
                </a:solidFill>
              </a:defRPr>
            </a:pPr>
            <a:r>
              <a:t>It is highly recommended that you pass the Certified Engineer exam before registering for this exam.  </a:t>
            </a:r>
          </a:p>
          <a:p>
            <a:pPr>
              <a:defRPr baseline="61111">
                <a:solidFill>
                  <a:schemeClr val="accent5">
                    <a:lumOff val="-29866"/>
                  </a:schemeClr>
                </a:solidFill>
              </a:defRPr>
            </a:pPr>
            <a:r>
              <a:t>To achieve Commvault Expert Certification you must first complete the Commvault Engineer Certification. </a:t>
            </a:r>
          </a:p>
        </p:txBody>
      </p:sp>
      <p:pic>
        <p:nvPicPr>
          <p:cNvPr id="207" name="exam.png" descr="exam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252023" y="6735175"/>
            <a:ext cx="14012291" cy="609494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Примеры вопросов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Примеры вопросов</a:t>
            </a:r>
          </a:p>
        </p:txBody>
      </p:sp>
      <p:sp>
        <p:nvSpPr>
          <p:cNvPr id="210" name="Which of the following is not a data pruning method involved in aging out deduplicated data?…"/>
          <p:cNvSpPr txBox="1"/>
          <p:nvPr>
            <p:ph type="body" idx="1"/>
          </p:nvPr>
        </p:nvSpPr>
        <p:spPr>
          <a:xfrm>
            <a:off x="1206500" y="2727827"/>
            <a:ext cx="21971000" cy="9776689"/>
          </a:xfrm>
          <a:prstGeom prst="rect">
            <a:avLst/>
          </a:prstGeom>
        </p:spPr>
        <p:txBody>
          <a:bodyPr/>
          <a:lstStyle/>
          <a:p>
            <a:pPr marL="381000" indent="-381000">
              <a:lnSpc>
                <a:spcPct val="50000"/>
              </a:lnSpc>
              <a:spcBef>
                <a:spcPts val="3100"/>
              </a:spcBef>
              <a:defRPr>
                <a:solidFill>
                  <a:srgbClr val="FFFFFF"/>
                </a:solidFill>
              </a:defRPr>
            </a:pPr>
            <a:r>
              <a:t>Which of the following is not a data pruning method involved in aging out deduplicated data?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SFILE expiration.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SFILE deletion.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SFILE truncation.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Drill holes.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</a:pPr>
          </a:p>
          <a:p>
            <a:pPr marL="381000" indent="-381000">
              <a:lnSpc>
                <a:spcPct val="50000"/>
              </a:lnSpc>
              <a:spcBef>
                <a:spcPts val="3100"/>
              </a:spcBef>
              <a:defRPr baseline="58333">
                <a:solidFill>
                  <a:srgbClr val="FFFFFF"/>
                </a:solidFill>
              </a:defRPr>
            </a:pPr>
            <a:r>
              <a:t>Which of the following commands can best help in troubleshooting multi-stream tunneling issues? Choose the best answer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Telnet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cvipinfo IPv4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cvping</a:t>
            </a:r>
          </a:p>
          <a:p>
            <a:pPr lvl="1" marL="0" indent="457200">
              <a:lnSpc>
                <a:spcPct val="50000"/>
              </a:lnSpc>
              <a:spcBef>
                <a:spcPts val="3100"/>
              </a:spcBef>
              <a:buSzTx/>
              <a:buNone/>
              <a:defRPr sz="3000"/>
            </a:pPr>
            <a:r>
              <a:t>- netstat -anob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Hi, I'm Arlie, your AI assistant."/>
          <p:cNvSpPr txBox="1"/>
          <p:nvPr>
            <p:ph type="title"/>
          </p:nvPr>
        </p:nvSpPr>
        <p:spPr>
          <a:xfrm>
            <a:off x="1206500" y="1077359"/>
            <a:ext cx="21971000" cy="1433164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Hi, I'm </a:t>
            </a:r>
            <a:r>
              <a:rPr>
                <a:solidFill>
                  <a:schemeClr val="accent5">
                    <a:hueOff val="-152895"/>
                    <a:lumOff val="12368"/>
                  </a:schemeClr>
                </a:solidFill>
              </a:rPr>
              <a:t>Arlie</a:t>
            </a:r>
            <a:r>
              <a:t>, your AI assistant.</a:t>
            </a:r>
          </a:p>
        </p:txBody>
      </p:sp>
      <p:sp>
        <p:nvSpPr>
          <p:cNvPr id="213" name="Slide bullet tex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21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714500" y="4299304"/>
            <a:ext cx="10160000" cy="7708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gradFill flip="none" rotWithShape="1">
          <a:gsLst>
            <a:gs pos="0">
              <a:srgbClr val="1A406B"/>
            </a:gs>
            <a:gs pos="100000">
              <a:srgbClr val="04121E"/>
            </a:gs>
          </a:gsLst>
          <a:lin ang="54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Дополнительные материалы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Дополнительные материалы</a:t>
            </a:r>
          </a:p>
        </p:txBody>
      </p:sp>
      <p:sp>
        <p:nvSpPr>
          <p:cNvPr id="217" name="Commvault Command Center: Architecture &amp; Troubleshooting – CPR2024…"/>
          <p:cNvSpPr txBox="1"/>
          <p:nvPr>
            <p:ph type="body" idx="1"/>
          </p:nvPr>
        </p:nvSpPr>
        <p:spPr>
          <a:xfrm>
            <a:off x="1206500" y="3768377"/>
            <a:ext cx="21971000" cy="8736139"/>
          </a:xfrm>
          <a:prstGeom prst="rect">
            <a:avLst/>
          </a:prstGeom>
        </p:spPr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Commvault Command Center: Architecture &amp; Troubleshooting – CPR2024</a:t>
            </a:r>
          </a:p>
          <a:p>
            <a:pPr lvl="1">
              <a:defRPr>
                <a:solidFill>
                  <a:srgbClr val="FFFFFF"/>
                </a:solidFill>
              </a:defRPr>
            </a:pPr>
            <a:r>
              <a:t>1 - 1.5 часа</a:t>
            </a:r>
          </a:p>
          <a:p>
            <a:pPr lvl="1">
              <a:defRPr>
                <a:solidFill>
                  <a:srgbClr val="FFFFFF"/>
                </a:solidFill>
              </a:defRPr>
            </a:pPr>
          </a:p>
          <a:p>
            <a:pPr>
              <a:defRPr>
                <a:solidFill>
                  <a:srgbClr val="FFFFFF"/>
                </a:solidFill>
              </a:defRPr>
            </a:pPr>
            <a:r>
              <a:t>Методички на files.jet.su</a:t>
            </a:r>
          </a:p>
          <a:p>
            <a:pPr lvl="1" marL="0" indent="457200">
              <a:buSzTx/>
              <a:buNone/>
            </a:pPr>
            <a:r>
              <a:t>https://tools.jet.su/files/index.php?p=Commvault%2FCourses%2FCommvault+Engineer</a:t>
            </a:r>
          </a:p>
          <a:p>
            <a:pPr lvl="1" marL="0" indent="457200">
              <a:buSzTx/>
              <a:buNone/>
            </a:pPr>
            <a:r>
              <a:t>https://tools.jet.su/files/index.php?p=Commvault%2FCourses%2FCommvault+Professional</a:t>
            </a:r>
          </a:p>
          <a:p>
            <a:pPr lvl="1" marL="0" indent="457200">
              <a:buSzTx/>
              <a:buNone/>
            </a:pPr>
            <a:r>
              <a:t>https://tools.jet.su/files/index.php?p=Commvault%2FCourses%2FCV+Professional+Advanced</a:t>
            </a:r>
          </a:p>
          <a:p>
            <a:pPr lvl="1" marL="0" indent="457200">
              <a:buSzTx/>
              <a:buNone/>
            </a:pPr>
            <a:r>
              <a:t>https://tools.jet.su/files/index.php?p=Commvault%2FCourses%2FCommvault+Expert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FFFFFF"/>
      </a:dk1>
      <a:lt1>
        <a:srgbClr val="D5D5D5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60000"/>
          </a:lnSpc>
          <a:spcBef>
            <a:spcPts val="3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D5D5D5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60000"/>
          </a:lnSpc>
          <a:spcBef>
            <a:spcPts val="3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600" u="none" kumimoji="0" normalizeH="0">
            <a:ln>
              <a:noFill/>
            </a:ln>
            <a:solidFill>
              <a:srgbClr val="D5D5D5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